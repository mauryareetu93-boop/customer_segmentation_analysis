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2"/>
  </p:notesMasterIdLst>
  <p:sldIdLst>
    <p:sldId id="292" r:id="rId5"/>
    <p:sldId id="1291" r:id="rId6"/>
    <p:sldId id="1292" r:id="rId7"/>
    <p:sldId id="1294" r:id="rId8"/>
    <p:sldId id="1293" r:id="rId9"/>
    <p:sldId id="1296" r:id="rId10"/>
    <p:sldId id="1250"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88" userDrawn="1">
          <p15:clr>
            <a:srgbClr val="A4A3A4"/>
          </p15:clr>
        </p15:guide>
        <p15:guide id="2" pos="144" userDrawn="1">
          <p15:clr>
            <a:srgbClr val="A4A3A4"/>
          </p15:clr>
        </p15:guide>
        <p15:guide id="3" orient="horz" pos="852"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7C73"/>
    <a:srgbClr val="E8ECF8"/>
    <a:srgbClr val="EF6331"/>
    <a:srgbClr val="223366"/>
    <a:srgbClr val="00717D"/>
    <a:srgbClr val="C9D2ED"/>
    <a:srgbClr val="851910"/>
    <a:srgbClr val="0000FF"/>
    <a:srgbClr val="FFCD8C"/>
    <a:srgbClr val="9F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1" d="100"/>
          <a:sy n="141" d="100"/>
        </p:scale>
        <p:origin x="744" y="120"/>
      </p:cViewPr>
      <p:guideLst>
        <p:guide orient="horz" pos="588"/>
        <p:guide pos="144"/>
        <p:guide orient="horz" pos="8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5" Type="http://schemas.openxmlformats.org/officeDocument/2006/relationships/slide" Target="slides/slide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736936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1089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5825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7122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5323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8027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EBA23-5FDD-5D7E-F6FC-E4A6A7F5FDAF}"/>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1DBF0E-B651-D205-69BC-E38929484D98}"/>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5EAFE9-FEB4-90FA-7604-E71268E9BE42}"/>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15-05-2026</a:t>
            </a:fld>
            <a:endParaRPr lang="en-IN"/>
          </a:p>
        </p:txBody>
      </p:sp>
      <p:sp>
        <p:nvSpPr>
          <p:cNvPr id="5" name="Footer Placeholder 4">
            <a:extLst>
              <a:ext uri="{FF2B5EF4-FFF2-40B4-BE49-F238E27FC236}">
                <a16:creationId xmlns:a16="http://schemas.microsoft.com/office/drawing/2014/main" id="{90042C0C-D784-7894-6E7A-A3163E7BD218}"/>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597E244B-37C0-9DC6-22CD-EB660918FB6E}"/>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21215169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2" name="Rectangle 1">
            <a:extLst>
              <a:ext uri="{FF2B5EF4-FFF2-40B4-BE49-F238E27FC236}">
                <a16:creationId xmlns:a16="http://schemas.microsoft.com/office/drawing/2014/main" id="{1C8B4DC1-1FB6-97A3-9F51-B9358500E0A8}"/>
              </a:ext>
            </a:extLst>
          </p:cNvPr>
          <p:cNvSpPr/>
          <p:nvPr userDrawn="1"/>
        </p:nvSpPr>
        <p:spPr>
          <a:xfrm>
            <a:off x="0" y="454356"/>
            <a:ext cx="9144000" cy="45719"/>
          </a:xfrm>
          <a:prstGeom prst="rect">
            <a:avLst/>
          </a:prstGeom>
          <a:solidFill>
            <a:srgbClr val="EF63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97B0C45-392E-206A-6503-A52CA087AB64}"/>
              </a:ext>
            </a:extLst>
          </p:cNvPr>
          <p:cNvSpPr/>
          <p:nvPr userDrawn="1"/>
        </p:nvSpPr>
        <p:spPr>
          <a:xfrm>
            <a:off x="0" y="2445"/>
            <a:ext cx="9144000" cy="467289"/>
          </a:xfrm>
          <a:prstGeom prst="rect">
            <a:avLst/>
          </a:prstGeom>
          <a:solidFill>
            <a:srgbClr val="E8ECF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oogle Shape;110;p4" descr="A close up of a sign  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7717638" y="48027"/>
            <a:ext cx="1125129" cy="376123"/>
          </a:xfrm>
          <a:prstGeom prst="rect">
            <a:avLst/>
          </a:prstGeom>
          <a:noFill/>
          <a:ln>
            <a:noFill/>
          </a:ln>
        </p:spPr>
      </p:pic>
      <p:sp>
        <p:nvSpPr>
          <p:cNvPr id="14" name="Rectangle 13">
            <a:extLst>
              <a:ext uri="{FF2B5EF4-FFF2-40B4-BE49-F238E27FC236}">
                <a16:creationId xmlns:a16="http://schemas.microsoft.com/office/drawing/2014/main" id="{51E902BD-DE18-50F7-2A75-FEB6FA54A56F}"/>
              </a:ext>
            </a:extLst>
          </p:cNvPr>
          <p:cNvSpPr/>
          <p:nvPr userDrawn="1"/>
        </p:nvSpPr>
        <p:spPr>
          <a:xfrm>
            <a:off x="0" y="5097781"/>
            <a:ext cx="9144000" cy="4571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15"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sv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hyperlink" Target="https://copilotstudio.microsoft.com/environments/Default-ad06ef22-d6dc-4a55-b4c1-c3a158f5f147/bots/cr78b_copilot1tJ7uAB/canva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048131F8-7219-F30F-23C3-B1A523F13B4D}"/>
              </a:ext>
            </a:extLst>
          </p:cNvPr>
          <p:cNvSpPr/>
          <p:nvPr/>
        </p:nvSpPr>
        <p:spPr>
          <a:xfrm>
            <a:off x="0" y="8878"/>
            <a:ext cx="9144000" cy="51435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descr="A group of people sitting around a table  Description automatically generated">
            <a:extLst>
              <a:ext uri="{FF2B5EF4-FFF2-40B4-BE49-F238E27FC236}">
                <a16:creationId xmlns:a16="http://schemas.microsoft.com/office/drawing/2014/main" id="{F50512D5-A288-DE64-5FE5-FAA83B724C73}"/>
              </a:ext>
            </a:extLst>
          </p:cNvPr>
          <p:cNvPicPr>
            <a:picLocks noChangeAspect="1"/>
          </p:cNvPicPr>
          <p:nvPr/>
        </p:nvPicPr>
        <p:blipFill rotWithShape="1">
          <a:blip r:embed="rId3"/>
          <a:srcRect r="27854" b="25110"/>
          <a:stretch/>
        </p:blipFill>
        <p:spPr>
          <a:xfrm>
            <a:off x="3591976" y="-2697"/>
            <a:ext cx="5563599" cy="3851975"/>
          </a:xfrm>
          <a:prstGeom prst="rect">
            <a:avLst/>
          </a:prstGeom>
        </p:spPr>
      </p:pic>
      <p:grpSp>
        <p:nvGrpSpPr>
          <p:cNvPr id="9" name="Group 6">
            <a:extLst>
              <a:ext uri="{FF2B5EF4-FFF2-40B4-BE49-F238E27FC236}">
                <a16:creationId xmlns:a16="http://schemas.microsoft.com/office/drawing/2014/main" id="{ED09A716-F5FD-30AD-BA53-B5110DF9CEEE}"/>
              </a:ext>
            </a:extLst>
          </p:cNvPr>
          <p:cNvGrpSpPr/>
          <p:nvPr/>
        </p:nvGrpSpPr>
        <p:grpSpPr>
          <a:xfrm>
            <a:off x="552672" y="1325358"/>
            <a:ext cx="5347819" cy="2630034"/>
            <a:chOff x="-30164" y="-47625"/>
            <a:chExt cx="1548591" cy="761590"/>
          </a:xfrm>
        </p:grpSpPr>
        <p:sp>
          <p:nvSpPr>
            <p:cNvPr id="10" name="Freeform 7">
              <a:extLst>
                <a:ext uri="{FF2B5EF4-FFF2-40B4-BE49-F238E27FC236}">
                  <a16:creationId xmlns:a16="http://schemas.microsoft.com/office/drawing/2014/main" id="{6A1020B1-E8B3-2D26-3C61-328C79130C0D}"/>
                </a:ext>
              </a:extLst>
            </p:cNvPr>
            <p:cNvSpPr/>
            <p:nvPr/>
          </p:nvSpPr>
          <p:spPr>
            <a:xfrm>
              <a:off x="-30164" y="0"/>
              <a:ext cx="1548591" cy="713965"/>
            </a:xfrm>
            <a:custGeom>
              <a:avLst/>
              <a:gdLst/>
              <a:ahLst/>
              <a:cxnLst/>
              <a:rect l="l" t="t" r="r" b="b"/>
              <a:pathLst>
                <a:path w="1223699" h="713965">
                  <a:moveTo>
                    <a:pt x="0" y="0"/>
                  </a:moveTo>
                  <a:lnTo>
                    <a:pt x="1223699" y="0"/>
                  </a:lnTo>
                  <a:lnTo>
                    <a:pt x="1223699" y="713965"/>
                  </a:lnTo>
                  <a:lnTo>
                    <a:pt x="0" y="713965"/>
                  </a:lnTo>
                  <a:close/>
                </a:path>
              </a:pathLst>
            </a:custGeom>
            <a:solidFill>
              <a:srgbClr val="FFFFFF"/>
            </a:solidFill>
          </p:spPr>
          <p:txBody>
            <a:bodyPr/>
            <a:lstStyle/>
            <a:p>
              <a:endParaRPr lang="en-US"/>
            </a:p>
          </p:txBody>
        </p:sp>
        <p:sp>
          <p:nvSpPr>
            <p:cNvPr id="11" name="TextBox 8">
              <a:extLst>
                <a:ext uri="{FF2B5EF4-FFF2-40B4-BE49-F238E27FC236}">
                  <a16:creationId xmlns:a16="http://schemas.microsoft.com/office/drawing/2014/main" id="{2F1C3D6B-7CF9-2BD5-8B36-9878D3FBC36D}"/>
                </a:ext>
              </a:extLst>
            </p:cNvPr>
            <p:cNvSpPr txBox="1"/>
            <p:nvPr/>
          </p:nvSpPr>
          <p:spPr>
            <a:xfrm>
              <a:off x="0" y="-47625"/>
              <a:ext cx="1223699" cy="761589"/>
            </a:xfrm>
            <a:prstGeom prst="rect">
              <a:avLst/>
            </a:prstGeom>
          </p:spPr>
          <p:txBody>
            <a:bodyPr lIns="50800" tIns="50800" rIns="50800" bIns="50800" rtlCol="0" anchor="ctr"/>
            <a:lstStyle/>
            <a:p>
              <a:pPr algn="ctr">
                <a:lnSpc>
                  <a:spcPts val="2239"/>
                </a:lnSpc>
              </a:pPr>
              <a:endParaRPr/>
            </a:p>
          </p:txBody>
        </p:sp>
      </p:grpSp>
      <p:grpSp>
        <p:nvGrpSpPr>
          <p:cNvPr id="12" name="Group 9">
            <a:extLst>
              <a:ext uri="{FF2B5EF4-FFF2-40B4-BE49-F238E27FC236}">
                <a16:creationId xmlns:a16="http://schemas.microsoft.com/office/drawing/2014/main" id="{AE32C22C-3FDB-2396-2943-AFA12977BDA2}"/>
              </a:ext>
            </a:extLst>
          </p:cNvPr>
          <p:cNvGrpSpPr/>
          <p:nvPr/>
        </p:nvGrpSpPr>
        <p:grpSpPr>
          <a:xfrm>
            <a:off x="793587" y="1098363"/>
            <a:ext cx="4820890" cy="773873"/>
            <a:chOff x="-117556" y="-72266"/>
            <a:chExt cx="1991689" cy="319716"/>
          </a:xfrm>
        </p:grpSpPr>
        <p:sp>
          <p:nvSpPr>
            <p:cNvPr id="13" name="Freeform 10">
              <a:extLst>
                <a:ext uri="{FF2B5EF4-FFF2-40B4-BE49-F238E27FC236}">
                  <a16:creationId xmlns:a16="http://schemas.microsoft.com/office/drawing/2014/main" id="{DD5D5B45-D48F-CBC2-FAE6-3C32D4CA4A54}"/>
                </a:ext>
              </a:extLst>
            </p:cNvPr>
            <p:cNvSpPr/>
            <p:nvPr/>
          </p:nvSpPr>
          <p:spPr>
            <a:xfrm>
              <a:off x="-117556" y="-72266"/>
              <a:ext cx="1991689" cy="319716"/>
            </a:xfrm>
            <a:custGeom>
              <a:avLst/>
              <a:gdLst/>
              <a:ahLst/>
              <a:cxnLst/>
              <a:rect l="l" t="t" r="r" b="b"/>
              <a:pathLst>
                <a:path w="736235" h="178921">
                  <a:moveTo>
                    <a:pt x="0" y="0"/>
                  </a:moveTo>
                  <a:lnTo>
                    <a:pt x="736235" y="0"/>
                  </a:lnTo>
                  <a:lnTo>
                    <a:pt x="736235" y="178921"/>
                  </a:lnTo>
                  <a:lnTo>
                    <a:pt x="0" y="178921"/>
                  </a:lnTo>
                  <a:close/>
                </a:path>
              </a:pathLst>
            </a:custGeom>
            <a:solidFill>
              <a:srgbClr val="E8ECF8"/>
            </a:solidFill>
            <a:ln cap="sq">
              <a:noFill/>
              <a:prstDash val="solid"/>
              <a:miter/>
            </a:ln>
          </p:spPr>
          <p:txBody>
            <a:bodyPr/>
            <a:lstStyle/>
            <a:p>
              <a:endParaRPr lang="en-US"/>
            </a:p>
          </p:txBody>
        </p:sp>
        <p:sp>
          <p:nvSpPr>
            <p:cNvPr id="14" name="TextBox 11">
              <a:extLst>
                <a:ext uri="{FF2B5EF4-FFF2-40B4-BE49-F238E27FC236}">
                  <a16:creationId xmlns:a16="http://schemas.microsoft.com/office/drawing/2014/main" id="{D4602096-BB2A-D06A-F2F9-A1B85FB7B21D}"/>
                </a:ext>
              </a:extLst>
            </p:cNvPr>
            <p:cNvSpPr txBox="1"/>
            <p:nvPr/>
          </p:nvSpPr>
          <p:spPr>
            <a:xfrm>
              <a:off x="0" y="-66675"/>
              <a:ext cx="736235" cy="245596"/>
            </a:xfrm>
            <a:prstGeom prst="rect">
              <a:avLst/>
            </a:prstGeom>
          </p:spPr>
          <p:txBody>
            <a:bodyPr lIns="50800" tIns="50800" rIns="50800" bIns="50800" rtlCol="0" anchor="ctr"/>
            <a:lstStyle/>
            <a:p>
              <a:pPr marL="0" lvl="0" indent="0" algn="ctr">
                <a:lnSpc>
                  <a:spcPts val="3500"/>
                </a:lnSpc>
                <a:spcBef>
                  <a:spcPct val="0"/>
                </a:spcBef>
              </a:pPr>
              <a:endParaRPr/>
            </a:p>
          </p:txBody>
        </p:sp>
      </p:grpSp>
      <p:sp>
        <p:nvSpPr>
          <p:cNvPr id="16" name="Freeform 13">
            <a:extLst>
              <a:ext uri="{FF2B5EF4-FFF2-40B4-BE49-F238E27FC236}">
                <a16:creationId xmlns:a16="http://schemas.microsoft.com/office/drawing/2014/main" id="{E92715B5-E2D3-4776-93F0-B360B5A59553}"/>
              </a:ext>
            </a:extLst>
          </p:cNvPr>
          <p:cNvSpPr/>
          <p:nvPr/>
        </p:nvSpPr>
        <p:spPr>
          <a:xfrm>
            <a:off x="1783618" y="199"/>
            <a:ext cx="1032349" cy="451764"/>
          </a:xfrm>
          <a:custGeom>
            <a:avLst/>
            <a:gdLst/>
            <a:ahLst/>
            <a:cxnLst/>
            <a:rect l="l" t="t" r="r" b="b"/>
            <a:pathLst>
              <a:path w="2102123" h="919905">
                <a:moveTo>
                  <a:pt x="0" y="0"/>
                </a:moveTo>
                <a:lnTo>
                  <a:pt x="2102123" y="0"/>
                </a:lnTo>
                <a:lnTo>
                  <a:pt x="2102123" y="919905"/>
                </a:lnTo>
                <a:lnTo>
                  <a:pt x="0" y="919905"/>
                </a:lnTo>
                <a:lnTo>
                  <a:pt x="0" y="0"/>
                </a:lnTo>
                <a:close/>
              </a:path>
            </a:pathLst>
          </a:custGeom>
          <a:blipFill dpi="0" rotWithShape="1">
            <a:blip r:embed="rId4">
              <a:alphaModFix amt="32000"/>
              <a:extLst>
                <a:ext uri="{96DAC541-7B7A-43D3-8B79-37D633B846F1}">
                  <asvg:svgBlip xmlns:asvg="http://schemas.microsoft.com/office/drawing/2016/SVG/main" r:embed="rId5"/>
                </a:ext>
              </a:extLst>
            </a:blip>
            <a:srcRect/>
            <a:stretch>
              <a:fillRect t="-106728" r="-65303"/>
            </a:stretch>
          </a:blipFill>
        </p:spPr>
        <p:txBody>
          <a:bodyPr/>
          <a:lstStyle/>
          <a:p>
            <a:endParaRPr lang="en-US"/>
          </a:p>
        </p:txBody>
      </p:sp>
      <p:sp>
        <p:nvSpPr>
          <p:cNvPr id="17" name="Freeform 14">
            <a:extLst>
              <a:ext uri="{FF2B5EF4-FFF2-40B4-BE49-F238E27FC236}">
                <a16:creationId xmlns:a16="http://schemas.microsoft.com/office/drawing/2014/main" id="{E93B0532-3834-38EB-306B-BB126F538A06}"/>
              </a:ext>
            </a:extLst>
          </p:cNvPr>
          <p:cNvSpPr/>
          <p:nvPr/>
        </p:nvSpPr>
        <p:spPr>
          <a:xfrm>
            <a:off x="151647" y="93093"/>
            <a:ext cx="770970" cy="773872"/>
          </a:xfrm>
          <a:custGeom>
            <a:avLst/>
            <a:gdLst/>
            <a:ahLst/>
            <a:cxnLst/>
            <a:rect l="l" t="t" r="r" b="b"/>
            <a:pathLst>
              <a:path w="1569889" h="1575798">
                <a:moveTo>
                  <a:pt x="0" y="0"/>
                </a:moveTo>
                <a:lnTo>
                  <a:pt x="1569889" y="0"/>
                </a:lnTo>
                <a:lnTo>
                  <a:pt x="1569889" y="1575798"/>
                </a:lnTo>
                <a:lnTo>
                  <a:pt x="0" y="1575798"/>
                </a:lnTo>
                <a:lnTo>
                  <a:pt x="0" y="0"/>
                </a:lnTo>
                <a:close/>
              </a:path>
            </a:pathLst>
          </a:custGeom>
          <a:blipFill dpi="0" rotWithShape="1">
            <a:blip r:embed="rId6">
              <a:alphaModFix amt="30000"/>
              <a:extLst>
                <a:ext uri="{96DAC541-7B7A-43D3-8B79-37D633B846F1}">
                  <asvg:svgBlip xmlns:asvg="http://schemas.microsoft.com/office/drawing/2016/SVG/main" r:embed="rId7"/>
                </a:ext>
              </a:extLst>
            </a:blip>
            <a:srcRect/>
            <a:stretch>
              <a:fillRect/>
            </a:stretch>
          </a:blipFill>
        </p:spPr>
        <p:txBody>
          <a:bodyPr/>
          <a:lstStyle/>
          <a:p>
            <a:endParaRPr lang="en-US"/>
          </a:p>
        </p:txBody>
      </p:sp>
      <p:sp>
        <p:nvSpPr>
          <p:cNvPr id="35" name="TextBox 34">
            <a:extLst>
              <a:ext uri="{FF2B5EF4-FFF2-40B4-BE49-F238E27FC236}">
                <a16:creationId xmlns:a16="http://schemas.microsoft.com/office/drawing/2014/main" id="{B1520DAD-F8CC-E505-163A-1A40C1FCC226}"/>
              </a:ext>
            </a:extLst>
          </p:cNvPr>
          <p:cNvSpPr txBox="1"/>
          <p:nvPr/>
        </p:nvSpPr>
        <p:spPr>
          <a:xfrm>
            <a:off x="793587" y="2065201"/>
            <a:ext cx="4089105" cy="954107"/>
          </a:xfrm>
          <a:prstGeom prst="rect">
            <a:avLst/>
          </a:prstGeom>
          <a:noFill/>
        </p:spPr>
        <p:txBody>
          <a:bodyPr wrap="square" rtlCol="0">
            <a:spAutoFit/>
          </a:bodyPr>
          <a:lstStyle/>
          <a:p>
            <a:r>
              <a:rPr lang="en-US" sz="2800" b="1" dirty="0">
                <a:solidFill>
                  <a:schemeClr val="tx1"/>
                </a:solidFill>
              </a:rPr>
              <a:t>Sales Customer Segmentation Analysis</a:t>
            </a:r>
            <a:endParaRPr lang="en-US" sz="2800" dirty="0">
              <a:solidFill>
                <a:schemeClr val="tx1"/>
              </a:solidFill>
            </a:endParaRPr>
          </a:p>
        </p:txBody>
      </p:sp>
      <p:pic>
        <p:nvPicPr>
          <p:cNvPr id="39" name="Picture 38" descr="A group of people looking at a computer  Description automatically generated">
            <a:extLst>
              <a:ext uri="{FF2B5EF4-FFF2-40B4-BE49-F238E27FC236}">
                <a16:creationId xmlns:a16="http://schemas.microsoft.com/office/drawing/2014/main" id="{18A248EA-6D70-BC00-C66F-B374210692E6}"/>
              </a:ext>
            </a:extLst>
          </p:cNvPr>
          <p:cNvPicPr>
            <a:picLocks noChangeAspect="1"/>
          </p:cNvPicPr>
          <p:nvPr/>
        </p:nvPicPr>
        <p:blipFill rotWithShape="1">
          <a:blip r:embed="rId8"/>
          <a:srcRect t="62443" r="30604" b="14243"/>
          <a:stretch/>
        </p:blipFill>
        <p:spPr>
          <a:xfrm>
            <a:off x="-8839" y="3956265"/>
            <a:ext cx="3569383" cy="1199146"/>
          </a:xfrm>
          <a:prstGeom prst="rect">
            <a:avLst/>
          </a:prstGeom>
        </p:spPr>
      </p:pic>
      <p:sp>
        <p:nvSpPr>
          <p:cNvPr id="40" name="Google Shape;70;p13">
            <a:extLst>
              <a:ext uri="{FF2B5EF4-FFF2-40B4-BE49-F238E27FC236}">
                <a16:creationId xmlns:a16="http://schemas.microsoft.com/office/drawing/2014/main" id="{574F20A4-E865-2423-673E-2D8E75BC50D9}"/>
              </a:ext>
            </a:extLst>
          </p:cNvPr>
          <p:cNvSpPr txBox="1"/>
          <p:nvPr/>
        </p:nvSpPr>
        <p:spPr>
          <a:xfrm>
            <a:off x="3705805" y="3971818"/>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dirty="0">
                <a:solidFill>
                  <a:schemeClr val="bg1"/>
                </a:solidFill>
                <a:latin typeface="Arial"/>
                <a:ea typeface="Arial"/>
                <a:cs typeface="Arial"/>
                <a:sym typeface="Arial"/>
              </a:rPr>
              <a:t>Prepared by</a:t>
            </a:r>
          </a:p>
        </p:txBody>
      </p:sp>
      <p:sp>
        <p:nvSpPr>
          <p:cNvPr id="41" name="TextBox 40">
            <a:extLst>
              <a:ext uri="{FF2B5EF4-FFF2-40B4-BE49-F238E27FC236}">
                <a16:creationId xmlns:a16="http://schemas.microsoft.com/office/drawing/2014/main" id="{94658D58-B26B-B263-E4E7-719E9EA907D6}"/>
              </a:ext>
            </a:extLst>
          </p:cNvPr>
          <p:cNvSpPr txBox="1"/>
          <p:nvPr/>
        </p:nvSpPr>
        <p:spPr>
          <a:xfrm>
            <a:off x="3705805" y="4306456"/>
            <a:ext cx="2168784" cy="846386"/>
          </a:xfrm>
          <a:prstGeom prst="rect">
            <a:avLst/>
          </a:prstGeom>
          <a:noFill/>
        </p:spPr>
        <p:txBody>
          <a:bodyPr wrap="square" lIns="91440" tIns="45720" rIns="91440" bIns="45720" anchor="t">
            <a:spAutoFit/>
          </a:bodyPr>
          <a:lstStyle/>
          <a:p>
            <a:pPr marL="228600" indent="-228600">
              <a:spcAft>
                <a:spcPts val="200"/>
              </a:spcAft>
              <a:buClr>
                <a:schemeClr val="bg1"/>
              </a:buClr>
              <a:buAutoNum type="arabicPeriod"/>
            </a:pPr>
            <a:r>
              <a:rPr lang="fi-FI" sz="1100" dirty="0">
                <a:solidFill>
                  <a:schemeClr val="bg1"/>
                </a:solidFill>
              </a:rPr>
              <a:t>Monika Maurya</a:t>
            </a:r>
          </a:p>
          <a:p>
            <a:pPr marL="228600" indent="-228600">
              <a:spcAft>
                <a:spcPts val="200"/>
              </a:spcAft>
              <a:buClr>
                <a:schemeClr val="bg1"/>
              </a:buClr>
              <a:buAutoNum type="arabicPeriod"/>
            </a:pPr>
            <a:r>
              <a:rPr lang="fi-FI" sz="1100" dirty="0">
                <a:solidFill>
                  <a:schemeClr val="bg1"/>
                </a:solidFill>
              </a:rPr>
              <a:t>Shreya Gupta </a:t>
            </a:r>
          </a:p>
          <a:p>
            <a:pPr marL="228600" indent="-228600">
              <a:spcAft>
                <a:spcPts val="200"/>
              </a:spcAft>
              <a:buClr>
                <a:schemeClr val="bg1"/>
              </a:buClr>
              <a:buAutoNum type="arabicPeriod"/>
            </a:pPr>
            <a:r>
              <a:rPr lang="fi-FI" sz="1100" dirty="0">
                <a:solidFill>
                  <a:schemeClr val="bg1"/>
                </a:solidFill>
              </a:rPr>
              <a:t>Sandhya Sharma</a:t>
            </a:r>
          </a:p>
          <a:p>
            <a:pPr marL="228600" indent="-228600">
              <a:spcAft>
                <a:spcPts val="200"/>
              </a:spcAft>
              <a:buClr>
                <a:schemeClr val="bg1"/>
              </a:buClr>
              <a:buAutoNum type="arabicPeriod"/>
            </a:pPr>
            <a:r>
              <a:rPr lang="fi-FI" sz="1100" dirty="0">
                <a:solidFill>
                  <a:schemeClr val="bg1"/>
                </a:solidFill>
              </a:rPr>
              <a:t>Soniya Bansal </a:t>
            </a:r>
            <a:endParaRPr lang="en-US" dirty="0">
              <a:solidFill>
                <a:schemeClr val="bg1"/>
              </a:solidFill>
            </a:endParaRPr>
          </a:p>
        </p:txBody>
      </p:sp>
      <p:cxnSp>
        <p:nvCxnSpPr>
          <p:cNvPr id="42" name="Straight Connector 41">
            <a:extLst>
              <a:ext uri="{FF2B5EF4-FFF2-40B4-BE49-F238E27FC236}">
                <a16:creationId xmlns:a16="http://schemas.microsoft.com/office/drawing/2014/main" id="{DDA9C646-678B-4CA4-AAF5-5A0CA4DB2AC5}"/>
              </a:ext>
            </a:extLst>
          </p:cNvPr>
          <p:cNvCxnSpPr>
            <a:cxnSpLocks/>
          </p:cNvCxnSpPr>
          <p:nvPr/>
        </p:nvCxnSpPr>
        <p:spPr>
          <a:xfrm>
            <a:off x="3767827" y="4283706"/>
            <a:ext cx="2074828" cy="13408"/>
          </a:xfrm>
          <a:prstGeom prst="line">
            <a:avLst/>
          </a:prstGeom>
          <a:ln w="3175">
            <a:solidFill>
              <a:srgbClr val="E5EEFF"/>
            </a:solidFill>
            <a:prstDash val="lgDashDotDot"/>
          </a:ln>
        </p:spPr>
        <p:style>
          <a:lnRef idx="1">
            <a:schemeClr val="accent1"/>
          </a:lnRef>
          <a:fillRef idx="0">
            <a:schemeClr val="accent1"/>
          </a:fillRef>
          <a:effectRef idx="0">
            <a:schemeClr val="accent1"/>
          </a:effectRef>
          <a:fontRef idx="minor">
            <a:schemeClr val="tx1"/>
          </a:fontRef>
        </p:style>
      </p:cxnSp>
      <p:sp>
        <p:nvSpPr>
          <p:cNvPr id="44" name="Google Shape;70;p13">
            <a:extLst>
              <a:ext uri="{FF2B5EF4-FFF2-40B4-BE49-F238E27FC236}">
                <a16:creationId xmlns:a16="http://schemas.microsoft.com/office/drawing/2014/main" id="{43C0C02E-B24A-392F-8483-77C0267C88E1}"/>
              </a:ext>
            </a:extLst>
          </p:cNvPr>
          <p:cNvSpPr txBox="1"/>
          <p:nvPr/>
        </p:nvSpPr>
        <p:spPr>
          <a:xfrm>
            <a:off x="6609792" y="3971817"/>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dirty="0">
                <a:solidFill>
                  <a:schemeClr val="bg1"/>
                </a:solidFill>
              </a:rPr>
              <a:t>Guided</a:t>
            </a:r>
            <a:r>
              <a:rPr lang="en-US" sz="1200" b="0" i="0" u="none" strike="noStrike" cap="none" dirty="0">
                <a:solidFill>
                  <a:schemeClr val="bg1"/>
                </a:solidFill>
                <a:latin typeface="Arial"/>
                <a:ea typeface="Arial"/>
                <a:cs typeface="Arial"/>
                <a:sym typeface="Arial"/>
              </a:rPr>
              <a:t> by</a:t>
            </a:r>
          </a:p>
        </p:txBody>
      </p:sp>
      <p:sp>
        <p:nvSpPr>
          <p:cNvPr id="45" name="TextBox 44">
            <a:extLst>
              <a:ext uri="{FF2B5EF4-FFF2-40B4-BE49-F238E27FC236}">
                <a16:creationId xmlns:a16="http://schemas.microsoft.com/office/drawing/2014/main" id="{5F6B4A00-040F-FDB6-2131-846EB7188C53}"/>
              </a:ext>
            </a:extLst>
          </p:cNvPr>
          <p:cNvSpPr txBox="1"/>
          <p:nvPr/>
        </p:nvSpPr>
        <p:spPr>
          <a:xfrm>
            <a:off x="6562814" y="4380193"/>
            <a:ext cx="2168784" cy="261610"/>
          </a:xfrm>
          <a:prstGeom prst="rect">
            <a:avLst/>
          </a:prstGeom>
          <a:noFill/>
        </p:spPr>
        <p:txBody>
          <a:bodyPr wrap="square" lIns="91440" tIns="45720" rIns="91440" bIns="45720" anchor="t">
            <a:spAutoFit/>
          </a:bodyPr>
          <a:lstStyle/>
          <a:p>
            <a:pPr marL="228600" indent="-228600">
              <a:spcAft>
                <a:spcPts val="200"/>
              </a:spcAft>
              <a:buClr>
                <a:schemeClr val="bg1"/>
              </a:buClr>
              <a:buAutoNum type="arabicPeriod"/>
            </a:pPr>
            <a:r>
              <a:rPr lang="fi-FI" sz="1100" dirty="0">
                <a:solidFill>
                  <a:schemeClr val="bg1"/>
                </a:solidFill>
              </a:rPr>
              <a:t>Saksham Mishra </a:t>
            </a:r>
          </a:p>
        </p:txBody>
      </p:sp>
      <p:cxnSp>
        <p:nvCxnSpPr>
          <p:cNvPr id="46" name="Straight Connector 45">
            <a:extLst>
              <a:ext uri="{FF2B5EF4-FFF2-40B4-BE49-F238E27FC236}">
                <a16:creationId xmlns:a16="http://schemas.microsoft.com/office/drawing/2014/main" id="{7C930180-14D0-979F-80DC-202E3B74AD60}"/>
              </a:ext>
            </a:extLst>
          </p:cNvPr>
          <p:cNvCxnSpPr>
            <a:cxnSpLocks/>
          </p:cNvCxnSpPr>
          <p:nvPr/>
        </p:nvCxnSpPr>
        <p:spPr>
          <a:xfrm>
            <a:off x="6609792" y="4280394"/>
            <a:ext cx="2074828" cy="13408"/>
          </a:xfrm>
          <a:prstGeom prst="line">
            <a:avLst/>
          </a:prstGeom>
          <a:ln w="3175">
            <a:solidFill>
              <a:srgbClr val="E5EEFF"/>
            </a:solidFill>
            <a:prstDash val="lgDashDotDot"/>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242FDAC4-AE27-C374-87FA-1488045722F0}"/>
              </a:ext>
            </a:extLst>
          </p:cNvPr>
          <p:cNvGrpSpPr/>
          <p:nvPr/>
        </p:nvGrpSpPr>
        <p:grpSpPr>
          <a:xfrm>
            <a:off x="1402805" y="1159739"/>
            <a:ext cx="3608846" cy="660460"/>
            <a:chOff x="1516338" y="1159739"/>
            <a:chExt cx="3608846" cy="660460"/>
          </a:xfrm>
        </p:grpSpPr>
        <p:cxnSp>
          <p:nvCxnSpPr>
            <p:cNvPr id="48" name="Straight Connector 47">
              <a:extLst>
                <a:ext uri="{FF2B5EF4-FFF2-40B4-BE49-F238E27FC236}">
                  <a16:creationId xmlns:a16="http://schemas.microsoft.com/office/drawing/2014/main" id="{E7602FD7-B850-30FC-6F11-B26765319CF5}"/>
                </a:ext>
              </a:extLst>
            </p:cNvPr>
            <p:cNvCxnSpPr>
              <a:cxnSpLocks/>
            </p:cNvCxnSpPr>
            <p:nvPr/>
          </p:nvCxnSpPr>
          <p:spPr>
            <a:xfrm>
              <a:off x="3969406" y="1316016"/>
              <a:ext cx="0" cy="330321"/>
            </a:xfrm>
            <a:prstGeom prst="line">
              <a:avLst/>
            </a:prstGeom>
            <a:ln/>
          </p:spPr>
          <p:style>
            <a:lnRef idx="1">
              <a:schemeClr val="dk1"/>
            </a:lnRef>
            <a:fillRef idx="0">
              <a:schemeClr val="dk1"/>
            </a:fillRef>
            <a:effectRef idx="0">
              <a:schemeClr val="dk1"/>
            </a:effectRef>
            <a:fontRef idx="minor">
              <a:schemeClr val="tx1"/>
            </a:fontRef>
          </p:style>
        </p:cxnSp>
        <p:pic>
          <p:nvPicPr>
            <p:cNvPr id="49" name="Google Shape;110;p4" descr="A close up of a sign  Description automatically generated">
              <a:extLst>
                <a:ext uri="{FF2B5EF4-FFF2-40B4-BE49-F238E27FC236}">
                  <a16:creationId xmlns:a16="http://schemas.microsoft.com/office/drawing/2014/main" id="{321F3B6E-D5C9-7BFA-7BDB-50FF890BB654}"/>
                </a:ext>
              </a:extLst>
            </p:cNvPr>
            <p:cNvPicPr preferRelativeResize="0"/>
            <p:nvPr/>
          </p:nvPicPr>
          <p:blipFill rotWithShape="1">
            <a:blip r:embed="rId9">
              <a:alphaModFix/>
            </a:blip>
            <a:srcRect/>
            <a:stretch/>
          </p:blipFill>
          <p:spPr>
            <a:xfrm>
              <a:off x="4237873" y="1341787"/>
              <a:ext cx="887311" cy="296622"/>
            </a:xfrm>
            <a:prstGeom prst="rect">
              <a:avLst/>
            </a:prstGeom>
            <a:noFill/>
            <a:ln>
              <a:noFill/>
            </a:ln>
          </p:spPr>
        </p:pic>
        <p:pic>
          <p:nvPicPr>
            <p:cNvPr id="50" name="Picture 49">
              <a:extLst>
                <a:ext uri="{FF2B5EF4-FFF2-40B4-BE49-F238E27FC236}">
                  <a16:creationId xmlns:a16="http://schemas.microsoft.com/office/drawing/2014/main" id="{E97570DF-6F54-74D9-731F-612CF788DA56}"/>
                </a:ext>
              </a:extLst>
            </p:cNvPr>
            <p:cNvPicPr/>
            <p:nvPr/>
          </p:nvPicPr>
          <p:blipFill>
            <a:blip r:embed="rId10"/>
            <a:stretch/>
          </p:blipFill>
          <p:spPr>
            <a:xfrm>
              <a:off x="1516338" y="1351451"/>
              <a:ext cx="1069048" cy="277034"/>
            </a:xfrm>
            <a:prstGeom prst="rect">
              <a:avLst/>
            </a:prstGeom>
            <a:ln w="0">
              <a:noFill/>
            </a:ln>
          </p:spPr>
        </p:pic>
        <p:cxnSp>
          <p:nvCxnSpPr>
            <p:cNvPr id="51" name="Straight Connector 50">
              <a:extLst>
                <a:ext uri="{FF2B5EF4-FFF2-40B4-BE49-F238E27FC236}">
                  <a16:creationId xmlns:a16="http://schemas.microsoft.com/office/drawing/2014/main" id="{C2C4709E-5DC8-3087-4DFF-5FD21D1AA1BA}"/>
                </a:ext>
              </a:extLst>
            </p:cNvPr>
            <p:cNvCxnSpPr>
              <a:cxnSpLocks/>
            </p:cNvCxnSpPr>
            <p:nvPr/>
          </p:nvCxnSpPr>
          <p:spPr>
            <a:xfrm>
              <a:off x="2615873" y="1316016"/>
              <a:ext cx="0" cy="330321"/>
            </a:xfrm>
            <a:prstGeom prst="line">
              <a:avLst/>
            </a:prstGeom>
            <a:ln/>
          </p:spPr>
          <p:style>
            <a:lnRef idx="1">
              <a:schemeClr val="dk1"/>
            </a:lnRef>
            <a:fillRef idx="0">
              <a:schemeClr val="dk1"/>
            </a:fillRef>
            <a:effectRef idx="0">
              <a:schemeClr val="dk1"/>
            </a:effectRef>
            <a:fontRef idx="minor">
              <a:schemeClr val="tx1"/>
            </a:fontRef>
          </p:style>
        </p:cxnSp>
        <p:pic>
          <p:nvPicPr>
            <p:cNvPr id="52" name="Picture 51" descr="A logo with tools in a circle  Description automatically generated">
              <a:extLst>
                <a:ext uri="{FF2B5EF4-FFF2-40B4-BE49-F238E27FC236}">
                  <a16:creationId xmlns:a16="http://schemas.microsoft.com/office/drawing/2014/main" id="{D5514759-EB9F-E36E-1FFF-E3E7F1E44AE5}"/>
                </a:ext>
              </a:extLst>
            </p:cNvPr>
            <p:cNvPicPr>
              <a:picLocks noChangeAspect="1"/>
            </p:cNvPicPr>
            <p:nvPr/>
          </p:nvPicPr>
          <p:blipFill>
            <a:blip r:embed="rId11"/>
            <a:stretch>
              <a:fillRect/>
            </a:stretch>
          </p:blipFill>
          <p:spPr>
            <a:xfrm>
              <a:off x="2993928" y="1159739"/>
              <a:ext cx="658966" cy="66046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687AFAD5-578C-DC2D-F127-90FF4287354D}"/>
              </a:ext>
            </a:extLst>
          </p:cNvPr>
          <p:cNvSpPr txBox="1"/>
          <p:nvPr/>
        </p:nvSpPr>
        <p:spPr>
          <a:xfrm>
            <a:off x="143933" y="683683"/>
            <a:ext cx="4428068" cy="338554"/>
          </a:xfrm>
          <a:prstGeom prst="rect">
            <a:avLst/>
          </a:prstGeom>
          <a:noFill/>
        </p:spPr>
        <p:txBody>
          <a:bodyPr wrap="square">
            <a:spAutoFit/>
          </a:bodyPr>
          <a:lstStyle/>
          <a:p>
            <a:r>
              <a:rPr lang="en-IN" sz="1600" b="1">
                <a:solidFill>
                  <a:srgbClr val="213163"/>
                </a:solidFill>
              </a:rPr>
              <a:t>Project Overview</a:t>
            </a:r>
            <a:endParaRPr lang="en-IN" sz="1600">
              <a:solidFill>
                <a:srgbClr val="213163"/>
              </a:solidFill>
            </a:endParaRPr>
          </a:p>
        </p:txBody>
      </p:sp>
      <p:sp>
        <p:nvSpPr>
          <p:cNvPr id="6" name="TextBox 5">
            <a:extLst>
              <a:ext uri="{FF2B5EF4-FFF2-40B4-BE49-F238E27FC236}">
                <a16:creationId xmlns:a16="http://schemas.microsoft.com/office/drawing/2014/main" id="{4E2510F8-EE68-4DB7-5481-38EDBC28EBB2}"/>
              </a:ext>
            </a:extLst>
          </p:cNvPr>
          <p:cNvSpPr txBox="1"/>
          <p:nvPr/>
        </p:nvSpPr>
        <p:spPr>
          <a:xfrm>
            <a:off x="134414" y="1133132"/>
            <a:ext cx="4413733" cy="3539430"/>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dirty="0"/>
              <a:t>This project performs an in-depth customer segmentation analysis on sales transaction data to uncover distinct buyer groups based on demographics, purchase behaviour, frequency, and spending patterns. Segmentation enables precision marketing and improves customer lifetime value (CLV).</a:t>
            </a:r>
          </a:p>
          <a:p>
            <a:endParaRPr lang="en-US" dirty="0"/>
          </a:p>
          <a:p>
            <a:pPr marL="285750" indent="-285750">
              <a:buFont typeface="Arial" panose="020B0604020202020204" pitchFamily="34" charset="0"/>
              <a:buChar char="•"/>
            </a:pPr>
            <a:r>
              <a:rPr lang="en-US" dirty="0"/>
              <a:t>The analysis applies RFM (Recency, Frequency, Monetary) modelling and clustering techniques to classify customers into high-value, at-risk, new, and dormant segments. Insights are translated into targeted retention, upsell, and acquisition strategies. The findings support the sales and marketing teams in allocating budgets efficiently and personalising customer engagement across all channels.</a:t>
            </a:r>
          </a:p>
        </p:txBody>
      </p:sp>
      <p:pic>
        <p:nvPicPr>
          <p:cNvPr id="7" name="Picture 6" descr="A cartoon of a person holding a book  Description automatically generated">
            <a:extLst>
              <a:ext uri="{FF2B5EF4-FFF2-40B4-BE49-F238E27FC236}">
                <a16:creationId xmlns:a16="http://schemas.microsoft.com/office/drawing/2014/main" id="{27276879-51B0-342E-6B09-4EA7C9230A70}"/>
              </a:ext>
            </a:extLst>
          </p:cNvPr>
          <p:cNvPicPr>
            <a:picLocks noChangeAspect="1"/>
          </p:cNvPicPr>
          <p:nvPr/>
        </p:nvPicPr>
        <p:blipFill rotWithShape="1">
          <a:blip r:embed="rId3"/>
          <a:srcRect b="41075"/>
          <a:stretch/>
        </p:blipFill>
        <p:spPr>
          <a:xfrm>
            <a:off x="5112433" y="1147011"/>
            <a:ext cx="2351445" cy="3521243"/>
          </a:xfrm>
          <a:prstGeom prst="rect">
            <a:avLst/>
          </a:prstGeom>
        </p:spPr>
      </p:pic>
      <p:pic>
        <p:nvPicPr>
          <p:cNvPr id="8" name="Picture 7" descr="A blue question mark on a black background  Description automatically generated">
            <a:extLst>
              <a:ext uri="{FF2B5EF4-FFF2-40B4-BE49-F238E27FC236}">
                <a16:creationId xmlns:a16="http://schemas.microsoft.com/office/drawing/2014/main" id="{AEF795B9-59D0-E5F1-B10D-DC58713F5459}"/>
              </a:ext>
            </a:extLst>
          </p:cNvPr>
          <p:cNvPicPr>
            <a:picLocks noChangeAspect="1"/>
          </p:cNvPicPr>
          <p:nvPr/>
        </p:nvPicPr>
        <p:blipFill>
          <a:blip r:embed="rId4"/>
          <a:stretch>
            <a:fillRect/>
          </a:stretch>
        </p:blipFill>
        <p:spPr>
          <a:xfrm>
            <a:off x="6575258" y="2627897"/>
            <a:ext cx="2260934" cy="2260934"/>
          </a:xfrm>
          <a:prstGeom prst="rect">
            <a:avLst/>
          </a:prstGeom>
        </p:spPr>
      </p:pic>
    </p:spTree>
    <p:extLst>
      <p:ext uri="{BB962C8B-B14F-4D97-AF65-F5344CB8AC3E}">
        <p14:creationId xmlns:p14="http://schemas.microsoft.com/office/powerpoint/2010/main" val="2746043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F4D5078D-F8F7-912B-4E9C-BED71500ACC2}"/>
              </a:ext>
            </a:extLst>
          </p:cNvPr>
          <p:cNvSpPr txBox="1"/>
          <p:nvPr/>
        </p:nvSpPr>
        <p:spPr>
          <a:xfrm>
            <a:off x="143933" y="683683"/>
            <a:ext cx="4428068" cy="338554"/>
          </a:xfrm>
          <a:prstGeom prst="rect">
            <a:avLst/>
          </a:prstGeom>
          <a:noFill/>
        </p:spPr>
        <p:txBody>
          <a:bodyPr wrap="square">
            <a:spAutoFit/>
          </a:bodyPr>
          <a:lstStyle/>
          <a:p>
            <a:r>
              <a:rPr lang="en-US" sz="1600" b="1">
                <a:solidFill>
                  <a:srgbClr val="002060"/>
                </a:solidFill>
                <a:latin typeface="Arial"/>
                <a:ea typeface="Arial"/>
                <a:cs typeface="Arial"/>
                <a:sym typeface="Arial"/>
              </a:rPr>
              <a:t>Segmentation Methodology</a:t>
            </a:r>
            <a:endParaRPr lang="en-IN" sz="1600">
              <a:solidFill>
                <a:srgbClr val="213163"/>
              </a:solidFill>
            </a:endParaRPr>
          </a:p>
        </p:txBody>
      </p:sp>
      <p:grpSp>
        <p:nvGrpSpPr>
          <p:cNvPr id="25" name="Group 24">
            <a:extLst>
              <a:ext uri="{FF2B5EF4-FFF2-40B4-BE49-F238E27FC236}">
                <a16:creationId xmlns:a16="http://schemas.microsoft.com/office/drawing/2014/main" id="{D00F2964-0D4F-F880-A09E-E7A62DA0D8AD}"/>
              </a:ext>
            </a:extLst>
          </p:cNvPr>
          <p:cNvGrpSpPr/>
          <p:nvPr/>
        </p:nvGrpSpPr>
        <p:grpSpPr>
          <a:xfrm>
            <a:off x="4957011" y="1136519"/>
            <a:ext cx="4296704" cy="3560273"/>
            <a:chOff x="4957011" y="1136519"/>
            <a:chExt cx="4296704" cy="3560273"/>
          </a:xfrm>
        </p:grpSpPr>
        <p:grpSp>
          <p:nvGrpSpPr>
            <p:cNvPr id="14" name="Group 13">
              <a:extLst>
                <a:ext uri="{FF2B5EF4-FFF2-40B4-BE49-F238E27FC236}">
                  <a16:creationId xmlns:a16="http://schemas.microsoft.com/office/drawing/2014/main" id="{4CBDDE1E-3117-B64C-BB4F-1DE4EAC4051A}"/>
                </a:ext>
              </a:extLst>
            </p:cNvPr>
            <p:cNvGrpSpPr/>
            <p:nvPr/>
          </p:nvGrpSpPr>
          <p:grpSpPr>
            <a:xfrm>
              <a:off x="5693442" y="1136519"/>
              <a:ext cx="3560273" cy="3560273"/>
              <a:chOff x="4955715" y="1142768"/>
              <a:chExt cx="3560273" cy="3560273"/>
            </a:xfrm>
          </p:grpSpPr>
          <p:pic>
            <p:nvPicPr>
              <p:cNvPr id="15" name="Graphic 2" descr="Building with solid fill">
                <a:extLst>
                  <a:ext uri="{FF2B5EF4-FFF2-40B4-BE49-F238E27FC236}">
                    <a16:creationId xmlns:a16="http://schemas.microsoft.com/office/drawing/2014/main" id="{EB410575-724F-E860-628D-9E31E8990CC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5715" y="1142768"/>
                <a:ext cx="3560273" cy="3560273"/>
              </a:xfrm>
              <a:prstGeom prst="rect">
                <a:avLst/>
              </a:prstGeom>
            </p:spPr>
          </p:pic>
          <p:pic>
            <p:nvPicPr>
              <p:cNvPr id="16" name="Picture 15" descr="A green leafy plant with black background  Description automatically generated">
                <a:extLst>
                  <a:ext uri="{FF2B5EF4-FFF2-40B4-BE49-F238E27FC236}">
                    <a16:creationId xmlns:a16="http://schemas.microsoft.com/office/drawing/2014/main" id="{FA96A03D-8AC6-DF53-33DC-7FEC5CC4951F}"/>
                  </a:ext>
                </a:extLst>
              </p:cNvPr>
              <p:cNvPicPr>
                <a:picLocks noChangeAspect="1"/>
              </p:cNvPicPr>
              <p:nvPr/>
            </p:nvPicPr>
            <p:blipFill>
              <a:blip r:embed="rId5"/>
              <a:stretch>
                <a:fillRect/>
              </a:stretch>
            </p:blipFill>
            <p:spPr>
              <a:xfrm>
                <a:off x="7432037" y="4000732"/>
                <a:ext cx="463488" cy="463488"/>
              </a:xfrm>
              <a:prstGeom prst="rect">
                <a:avLst/>
              </a:prstGeom>
            </p:spPr>
          </p:pic>
          <p:pic>
            <p:nvPicPr>
              <p:cNvPr id="17" name="Picture 16" descr="A green leafy plant with black background  Description automatically generated">
                <a:extLst>
                  <a:ext uri="{FF2B5EF4-FFF2-40B4-BE49-F238E27FC236}">
                    <a16:creationId xmlns:a16="http://schemas.microsoft.com/office/drawing/2014/main" id="{0C87976D-9ED4-94B4-E12D-0E81648990E7}"/>
                  </a:ext>
                </a:extLst>
              </p:cNvPr>
              <p:cNvPicPr>
                <a:picLocks noChangeAspect="1"/>
              </p:cNvPicPr>
              <p:nvPr/>
            </p:nvPicPr>
            <p:blipFill>
              <a:blip r:embed="rId5"/>
              <a:stretch>
                <a:fillRect/>
              </a:stretch>
            </p:blipFill>
            <p:spPr>
              <a:xfrm>
                <a:off x="5474975" y="3992712"/>
                <a:ext cx="463488" cy="463488"/>
              </a:xfrm>
              <a:prstGeom prst="rect">
                <a:avLst/>
              </a:prstGeom>
            </p:spPr>
          </p:pic>
          <p:pic>
            <p:nvPicPr>
              <p:cNvPr id="18" name="Picture 17" descr="A green leafy plant with black background  Description automatically generated">
                <a:extLst>
                  <a:ext uri="{FF2B5EF4-FFF2-40B4-BE49-F238E27FC236}">
                    <a16:creationId xmlns:a16="http://schemas.microsoft.com/office/drawing/2014/main" id="{162C682B-F14F-E745-A95B-324697E9C870}"/>
                  </a:ext>
                </a:extLst>
              </p:cNvPr>
              <p:cNvPicPr>
                <a:picLocks noChangeAspect="1"/>
              </p:cNvPicPr>
              <p:nvPr/>
            </p:nvPicPr>
            <p:blipFill>
              <a:blip r:embed="rId5"/>
              <a:stretch>
                <a:fillRect/>
              </a:stretch>
            </p:blipFill>
            <p:spPr>
              <a:xfrm>
                <a:off x="5926171" y="3992712"/>
                <a:ext cx="463488" cy="463488"/>
              </a:xfrm>
              <a:prstGeom prst="rect">
                <a:avLst/>
              </a:prstGeom>
            </p:spPr>
          </p:pic>
          <p:pic>
            <p:nvPicPr>
              <p:cNvPr id="19" name="Picture 18" descr="A green leafy plant with black background  Description automatically generated">
                <a:extLst>
                  <a:ext uri="{FF2B5EF4-FFF2-40B4-BE49-F238E27FC236}">
                    <a16:creationId xmlns:a16="http://schemas.microsoft.com/office/drawing/2014/main" id="{B8208A31-28D7-AFA6-DB42-EB7415CD5BD7}"/>
                  </a:ext>
                </a:extLst>
              </p:cNvPr>
              <p:cNvPicPr>
                <a:picLocks noChangeAspect="1"/>
              </p:cNvPicPr>
              <p:nvPr/>
            </p:nvPicPr>
            <p:blipFill>
              <a:blip r:embed="rId5"/>
              <a:stretch>
                <a:fillRect/>
              </a:stretch>
            </p:blipFill>
            <p:spPr>
              <a:xfrm>
                <a:off x="6389659" y="3992712"/>
                <a:ext cx="463488" cy="463488"/>
              </a:xfrm>
              <a:prstGeom prst="rect">
                <a:avLst/>
              </a:prstGeom>
            </p:spPr>
          </p:pic>
          <p:pic>
            <p:nvPicPr>
              <p:cNvPr id="20" name="Picture 19" descr="A green leafy plant with black background  Description automatically generated">
                <a:extLst>
                  <a:ext uri="{FF2B5EF4-FFF2-40B4-BE49-F238E27FC236}">
                    <a16:creationId xmlns:a16="http://schemas.microsoft.com/office/drawing/2014/main" id="{921D4573-E89C-F978-B60F-75ABAB718726}"/>
                  </a:ext>
                </a:extLst>
              </p:cNvPr>
              <p:cNvPicPr>
                <a:picLocks noChangeAspect="1"/>
              </p:cNvPicPr>
              <p:nvPr/>
            </p:nvPicPr>
            <p:blipFill>
              <a:blip r:embed="rId5"/>
              <a:stretch>
                <a:fillRect/>
              </a:stretch>
            </p:blipFill>
            <p:spPr>
              <a:xfrm>
                <a:off x="6807588" y="3992712"/>
                <a:ext cx="463488" cy="463488"/>
              </a:xfrm>
              <a:prstGeom prst="rect">
                <a:avLst/>
              </a:prstGeom>
            </p:spPr>
          </p:pic>
          <p:pic>
            <p:nvPicPr>
              <p:cNvPr id="21" name="Picture 20" descr="A green leafy plant with black background  Description automatically generated">
                <a:extLst>
                  <a:ext uri="{FF2B5EF4-FFF2-40B4-BE49-F238E27FC236}">
                    <a16:creationId xmlns:a16="http://schemas.microsoft.com/office/drawing/2014/main" id="{DD649A93-C91B-E486-EA5E-C080F29D6825}"/>
                  </a:ext>
                </a:extLst>
              </p:cNvPr>
              <p:cNvPicPr>
                <a:picLocks noChangeAspect="1"/>
              </p:cNvPicPr>
              <p:nvPr/>
            </p:nvPicPr>
            <p:blipFill>
              <a:blip r:embed="rId5"/>
              <a:stretch>
                <a:fillRect/>
              </a:stretch>
            </p:blipFill>
            <p:spPr>
              <a:xfrm>
                <a:off x="7119213" y="3992712"/>
                <a:ext cx="463488" cy="463488"/>
              </a:xfrm>
              <a:prstGeom prst="rect">
                <a:avLst/>
              </a:prstGeom>
            </p:spPr>
          </p:pic>
        </p:grpSp>
        <p:sp>
          <p:nvSpPr>
            <p:cNvPr id="22" name="Oval 21">
              <a:extLst>
                <a:ext uri="{FF2B5EF4-FFF2-40B4-BE49-F238E27FC236}">
                  <a16:creationId xmlns:a16="http://schemas.microsoft.com/office/drawing/2014/main" id="{560C6BA6-5F2D-8F9B-162A-E34B8A491099}"/>
                </a:ext>
              </a:extLst>
            </p:cNvPr>
            <p:cNvSpPr/>
            <p:nvPr/>
          </p:nvSpPr>
          <p:spPr>
            <a:xfrm>
              <a:off x="4957011" y="1389708"/>
              <a:ext cx="2274970" cy="227497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Google Shape;134;p23">
              <a:extLst>
                <a:ext uri="{FF2B5EF4-FFF2-40B4-BE49-F238E27FC236}">
                  <a16:creationId xmlns:a16="http://schemas.microsoft.com/office/drawing/2014/main" id="{3382BCA9-3D11-62CB-321B-240BFBF0E00A}"/>
                </a:ext>
              </a:extLst>
            </p:cNvPr>
            <p:cNvSpPr txBox="1"/>
            <p:nvPr/>
          </p:nvSpPr>
          <p:spPr>
            <a:xfrm>
              <a:off x="5156936" y="1429477"/>
              <a:ext cx="1875120" cy="2195432"/>
            </a:xfrm>
            <a:prstGeom prst="rect">
              <a:avLst/>
            </a:prstGeom>
            <a:noFill/>
            <a:ln>
              <a:noFill/>
            </a:ln>
          </p:spPr>
          <p:txBody>
            <a:bodyPr spcFirstLastPara="1" wrap="square" lIns="91425" tIns="45700" rIns="91425" bIns="45700" anchor="t" anchorCtr="0">
              <a:spAutoFit/>
            </a:bodyPr>
            <a:lstStyle/>
            <a:p>
              <a:pPr marR="0" lvl="0" rtl="0">
                <a:lnSpc>
                  <a:spcPct val="100000"/>
                </a:lnSpc>
                <a:spcBef>
                  <a:spcPts val="0"/>
                </a:spcBef>
                <a:spcAft>
                  <a:spcPts val="800"/>
                </a:spcAft>
              </a:pPr>
              <a:r>
                <a:rPr lang="en-US" sz="13000" b="1" i="0" u="none" strike="noStrike" cap="none">
                  <a:solidFill>
                    <a:schemeClr val="bg1"/>
                  </a:solidFill>
                  <a:latin typeface="Arial"/>
                  <a:ea typeface="Arial"/>
                  <a:cs typeface="Arial"/>
                  <a:sym typeface="Arial"/>
                </a:rPr>
                <a:t>RFM</a:t>
              </a:r>
            </a:p>
          </p:txBody>
        </p:sp>
        <p:sp>
          <p:nvSpPr>
            <p:cNvPr id="24" name="Google Shape;134;p23">
              <a:extLst>
                <a:ext uri="{FF2B5EF4-FFF2-40B4-BE49-F238E27FC236}">
                  <a16:creationId xmlns:a16="http://schemas.microsoft.com/office/drawing/2014/main" id="{31ADB365-F098-90BE-1170-C0F8C08A2CF1}"/>
                </a:ext>
              </a:extLst>
            </p:cNvPr>
            <p:cNvSpPr txBox="1"/>
            <p:nvPr/>
          </p:nvSpPr>
          <p:spPr>
            <a:xfrm>
              <a:off x="6997972" y="1375380"/>
              <a:ext cx="974956" cy="410328"/>
            </a:xfrm>
            <a:prstGeom prst="rect">
              <a:avLst/>
            </a:prstGeom>
            <a:noFill/>
            <a:ln>
              <a:noFill/>
            </a:ln>
          </p:spPr>
          <p:txBody>
            <a:bodyPr spcFirstLastPara="1" wrap="square" lIns="91425" tIns="45700" rIns="91425" bIns="45700" anchor="t" anchorCtr="0">
              <a:spAutoFit/>
            </a:bodyPr>
            <a:lstStyle/>
            <a:p>
              <a:pPr marR="0" lvl="0" rtl="0">
                <a:lnSpc>
                  <a:spcPct val="100000"/>
                </a:lnSpc>
                <a:spcBef>
                  <a:spcPts val="0"/>
                </a:spcBef>
                <a:spcAft>
                  <a:spcPts val="800"/>
                </a:spcAft>
              </a:pPr>
              <a:r>
                <a:rPr lang="en-US" sz="1400" b="1" i="0" u="none" strike="noStrike" cap="none">
                  <a:solidFill>
                    <a:schemeClr val="bg1"/>
                  </a:solidFill>
                  <a:latin typeface="Arial"/>
                  <a:ea typeface="Arial"/>
                  <a:cs typeface="Arial"/>
                  <a:sym typeface="Arial"/>
                </a:rPr>
                <a:t>MODEL</a:t>
              </a:r>
            </a:p>
          </p:txBody>
        </p:sp>
      </p:grpSp>
      <p:sp>
        <p:nvSpPr>
          <p:cNvPr id="26" name="Google Shape;134;p23">
            <a:extLst>
              <a:ext uri="{FF2B5EF4-FFF2-40B4-BE49-F238E27FC236}">
                <a16:creationId xmlns:a16="http://schemas.microsoft.com/office/drawing/2014/main" id="{65A026A1-4157-D47A-7261-C367C2DC72CF}"/>
              </a:ext>
            </a:extLst>
          </p:cNvPr>
          <p:cNvSpPr txBox="1"/>
          <p:nvPr/>
        </p:nvSpPr>
        <p:spPr>
          <a:xfrm>
            <a:off x="131949" y="1142768"/>
            <a:ext cx="4440051" cy="2133877"/>
          </a:xfrm>
          <a:prstGeom prst="rect">
            <a:avLst/>
          </a:prstGeom>
          <a:noFill/>
          <a:ln>
            <a:noFill/>
          </a:ln>
        </p:spPr>
        <p:txBody>
          <a:bodyPr spcFirstLastPara="1" wrap="square" lIns="91425" tIns="45700" rIns="91425" bIns="45700" anchor="t" anchorCtr="0">
            <a:spAutoFit/>
          </a:bodyPr>
          <a:lstStyle/>
          <a:p>
            <a:pPr marL="173355" indent="-173355">
              <a:spcAft>
                <a:spcPts val="800"/>
              </a:spcAft>
              <a:buFont typeface="Arial" panose="020B0604020202020204" pitchFamily="34" charset="0"/>
              <a:buChar char="•"/>
            </a:pPr>
            <a:r>
              <a:rPr lang="en-US" sz="1400" i="0" u="none" strike="noStrike" cap="none" dirty="0">
                <a:solidFill>
                  <a:srgbClr val="000000"/>
                </a:solidFill>
                <a:latin typeface="Arial"/>
                <a:ea typeface="Arial"/>
                <a:cs typeface="Arial"/>
                <a:sym typeface="Arial"/>
              </a:rPr>
              <a:t>To segment customers effectively, we apply </a:t>
            </a:r>
            <a:r>
              <a:rPr lang="en-US" dirty="0"/>
              <a:t>RFM scoring, K-Means clustering, and cohort analysis on the transactional dataset. Excel Pivot Tables and Power BI dashboards visualise segment distributions and behavioural trends. The methodology identifies 5 key customer clusters — Champions, Loyal, Potential Loyalists, At-Risk, and Lost — enabling the marketing team to craft hyper-targeted campaigns and improve customer retention by up to 30%.</a:t>
            </a:r>
          </a:p>
        </p:txBody>
      </p:sp>
    </p:spTree>
    <p:extLst>
      <p:ext uri="{BB962C8B-B14F-4D97-AF65-F5344CB8AC3E}">
        <p14:creationId xmlns:p14="http://schemas.microsoft.com/office/powerpoint/2010/main" val="2975191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5" name="Google Shape;127;p22">
            <a:extLst>
              <a:ext uri="{FF2B5EF4-FFF2-40B4-BE49-F238E27FC236}">
                <a16:creationId xmlns:a16="http://schemas.microsoft.com/office/drawing/2014/main" id="{CC2ED9E3-05F2-5ECD-DD5B-3430C263D9B6}"/>
              </a:ext>
            </a:extLst>
          </p:cNvPr>
          <p:cNvSpPr txBox="1">
            <a:spLocks/>
          </p:cNvSpPr>
          <p:nvPr/>
        </p:nvSpPr>
        <p:spPr>
          <a:xfrm>
            <a:off x="139767" y="687300"/>
            <a:ext cx="8520600" cy="33851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1600" b="1">
                <a:solidFill>
                  <a:srgbClr val="002060"/>
                </a:solidFill>
              </a:rPr>
              <a:t>Interactive Dashboard</a:t>
            </a:r>
          </a:p>
        </p:txBody>
      </p:sp>
      <p:grpSp>
        <p:nvGrpSpPr>
          <p:cNvPr id="13" name="Group 12">
            <a:extLst>
              <a:ext uri="{FF2B5EF4-FFF2-40B4-BE49-F238E27FC236}">
                <a16:creationId xmlns:a16="http://schemas.microsoft.com/office/drawing/2014/main" id="{B5EF4296-6D6A-2195-AEDC-5739E9527820}"/>
              </a:ext>
            </a:extLst>
          </p:cNvPr>
          <p:cNvGrpSpPr/>
          <p:nvPr/>
        </p:nvGrpSpPr>
        <p:grpSpPr>
          <a:xfrm>
            <a:off x="1799924" y="1352550"/>
            <a:ext cx="5422232" cy="3199772"/>
            <a:chOff x="1159110" y="1292018"/>
            <a:chExt cx="5422232" cy="3199772"/>
          </a:xfrm>
        </p:grpSpPr>
        <p:sp>
          <p:nvSpPr>
            <p:cNvPr id="6" name="Oval 5">
              <a:extLst>
                <a:ext uri="{FF2B5EF4-FFF2-40B4-BE49-F238E27FC236}">
                  <a16:creationId xmlns:a16="http://schemas.microsoft.com/office/drawing/2014/main" id="{AA8EF506-DE96-236C-46F0-224868672ADF}"/>
                </a:ext>
              </a:extLst>
            </p:cNvPr>
            <p:cNvSpPr/>
            <p:nvPr/>
          </p:nvSpPr>
          <p:spPr>
            <a:xfrm>
              <a:off x="3217787" y="1292018"/>
              <a:ext cx="2826661" cy="2826661"/>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hlinkClick r:id="rId3"/>
              <a:extLst>
                <a:ext uri="{FF2B5EF4-FFF2-40B4-BE49-F238E27FC236}">
                  <a16:creationId xmlns:a16="http://schemas.microsoft.com/office/drawing/2014/main" id="{DED40980-3081-6659-4392-177BDDF9F096}"/>
                </a:ext>
              </a:extLst>
            </p:cNvPr>
            <p:cNvSpPr/>
            <p:nvPr/>
          </p:nvSpPr>
          <p:spPr>
            <a:xfrm>
              <a:off x="1159110" y="2630906"/>
              <a:ext cx="5422232" cy="1860884"/>
            </a:xfrm>
            <a:prstGeom prst="roundRect">
              <a:avLst>
                <a:gd name="adj" fmla="val 14943"/>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00A5BB1-3E0C-AD1B-4F66-76DA03418642}"/>
                </a:ext>
              </a:extLst>
            </p:cNvPr>
            <p:cNvSpPr txBox="1"/>
            <p:nvPr/>
          </p:nvSpPr>
          <p:spPr>
            <a:xfrm>
              <a:off x="1691508" y="3007350"/>
              <a:ext cx="4357437" cy="553998"/>
            </a:xfrm>
            <a:prstGeom prst="rect">
              <a:avLst/>
            </a:prstGeom>
            <a:noFill/>
          </p:spPr>
          <p:txBody>
            <a:bodyPr wrap="square">
              <a:spAutoFit/>
            </a:bodyPr>
            <a:lstStyle/>
            <a:p>
              <a:pPr algn="ctr"/>
              <a:r>
                <a:rPr lang="en-US" sz="3000" b="1" i="0" u="none" strike="noStrike" cap="none" dirty="0">
                  <a:solidFill>
                    <a:schemeClr val="bg1"/>
                  </a:solidFill>
                  <a:latin typeface="Arial"/>
                  <a:ea typeface="Arial"/>
                  <a:cs typeface="Arial"/>
                  <a:sym typeface="Arial"/>
                </a:rPr>
                <a:t>Dashboard Link </a:t>
              </a:r>
              <a:endParaRPr lang="en-US" sz="3000" b="1" dirty="0">
                <a:solidFill>
                  <a:schemeClr val="bg1"/>
                </a:solidFill>
              </a:endParaRPr>
            </a:p>
          </p:txBody>
        </p:sp>
        <p:sp>
          <p:nvSpPr>
            <p:cNvPr id="12" name="Rectangle 2">
              <a:extLst>
                <a:ext uri="{FF2B5EF4-FFF2-40B4-BE49-F238E27FC236}">
                  <a16:creationId xmlns:a16="http://schemas.microsoft.com/office/drawing/2014/main" id="{18516467-7CBC-2FFE-993C-F7C080FA7F0C}"/>
                </a:ext>
              </a:extLst>
            </p:cNvPr>
            <p:cNvSpPr>
              <a:spLocks noChangeArrowheads="1"/>
            </p:cNvSpPr>
            <p:nvPr/>
          </p:nvSpPr>
          <p:spPr bwMode="auto">
            <a:xfrm>
              <a:off x="1919524" y="3518515"/>
              <a:ext cx="4287502"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altLang="en-US" sz="1100" dirty="0">
                  <a:solidFill>
                    <a:schemeClr val="bg1"/>
                  </a:solidFill>
                </a:rPr>
                <a:t>https://github.com/mauryareetu93-boop/Customer_Segmentation_Analysis/blame/main/customer%20segmentation%20analysis%20dashboard.pbix</a:t>
              </a:r>
              <a:endParaRPr lang="en-US" altLang="en-US" sz="1100" b="0" i="0" u="none" strike="noStrike" cap="none" normalizeH="0" baseline="0" dirty="0">
                <a:ln>
                  <a:noFill/>
                </a:ln>
                <a:solidFill>
                  <a:schemeClr val="bg1"/>
                </a:solidFill>
                <a:effectLst/>
                <a:latin typeface="Arial" panose="020B0604020202020204" pitchFamily="34" charset="0"/>
              </a:endParaRPr>
            </a:p>
          </p:txBody>
        </p:sp>
      </p:grpSp>
      <p:grpSp>
        <p:nvGrpSpPr>
          <p:cNvPr id="19" name="Group 18">
            <a:extLst>
              <a:ext uri="{FF2B5EF4-FFF2-40B4-BE49-F238E27FC236}">
                <a16:creationId xmlns:a16="http://schemas.microsoft.com/office/drawing/2014/main" id="{65058CC0-CC04-8036-24AE-51461F3C17DF}"/>
              </a:ext>
            </a:extLst>
          </p:cNvPr>
          <p:cNvGrpSpPr/>
          <p:nvPr/>
        </p:nvGrpSpPr>
        <p:grpSpPr>
          <a:xfrm>
            <a:off x="4393138" y="1229664"/>
            <a:ext cx="1757585" cy="1815552"/>
            <a:chOff x="686159" y="633457"/>
            <a:chExt cx="2849880" cy="2943873"/>
          </a:xfrm>
        </p:grpSpPr>
        <p:sp>
          <p:nvSpPr>
            <p:cNvPr id="18" name="Rectangle 17">
              <a:extLst>
                <a:ext uri="{FF2B5EF4-FFF2-40B4-BE49-F238E27FC236}">
                  <a16:creationId xmlns:a16="http://schemas.microsoft.com/office/drawing/2014/main" id="{1401590A-7F69-1C2D-2A3C-3BD68F2C27B2}"/>
                </a:ext>
              </a:extLst>
            </p:cNvPr>
            <p:cNvSpPr/>
            <p:nvPr/>
          </p:nvSpPr>
          <p:spPr>
            <a:xfrm>
              <a:off x="790438" y="1492457"/>
              <a:ext cx="2613660" cy="14935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person on a computer screen  Description automatically generated">
              <a:extLst>
                <a:ext uri="{FF2B5EF4-FFF2-40B4-BE49-F238E27FC236}">
                  <a16:creationId xmlns:a16="http://schemas.microsoft.com/office/drawing/2014/main" id="{AEFB9C29-B9A9-F09E-AF9C-106FEC826A3A}"/>
                </a:ext>
              </a:extLst>
            </p:cNvPr>
            <p:cNvPicPr>
              <a:picLocks noChangeAspect="1"/>
            </p:cNvPicPr>
            <p:nvPr/>
          </p:nvPicPr>
          <p:blipFill rotWithShape="1">
            <a:blip r:embed="rId4"/>
            <a:srcRect l="17439" r="18038"/>
            <a:stretch/>
          </p:blipFill>
          <p:spPr>
            <a:xfrm>
              <a:off x="686159" y="633457"/>
              <a:ext cx="2849880" cy="2943873"/>
            </a:xfrm>
            <a:prstGeom prst="rect">
              <a:avLst/>
            </a:prstGeom>
          </p:spPr>
        </p:pic>
      </p:grpSp>
    </p:spTree>
    <p:extLst>
      <p:ext uri="{BB962C8B-B14F-4D97-AF65-F5344CB8AC3E}">
        <p14:creationId xmlns:p14="http://schemas.microsoft.com/office/powerpoint/2010/main" val="4017130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14" name="Picture 13" descr="A group of people standing on a arrow  Description automatically generated">
            <a:extLst>
              <a:ext uri="{FF2B5EF4-FFF2-40B4-BE49-F238E27FC236}">
                <a16:creationId xmlns:a16="http://schemas.microsoft.com/office/drawing/2014/main" id="{3AF0A26D-CA08-4444-AD3E-FF6B88FF92E5}"/>
              </a:ext>
            </a:extLst>
          </p:cNvPr>
          <p:cNvPicPr>
            <a:picLocks noChangeAspect="1"/>
          </p:cNvPicPr>
          <p:nvPr/>
        </p:nvPicPr>
        <p:blipFill>
          <a:blip r:embed="rId3"/>
          <a:stretch>
            <a:fillRect/>
          </a:stretch>
        </p:blipFill>
        <p:spPr>
          <a:xfrm flipH="1">
            <a:off x="4488180" y="1021274"/>
            <a:ext cx="4655820" cy="3100952"/>
          </a:xfrm>
          <a:prstGeom prst="rect">
            <a:avLst/>
          </a:prstGeom>
        </p:spPr>
      </p:pic>
      <p:sp>
        <p:nvSpPr>
          <p:cNvPr id="4" name="Google Shape;127;p22">
            <a:extLst>
              <a:ext uri="{FF2B5EF4-FFF2-40B4-BE49-F238E27FC236}">
                <a16:creationId xmlns:a16="http://schemas.microsoft.com/office/drawing/2014/main" id="{8896CF32-2381-134F-850C-1B4E39261E20}"/>
              </a:ext>
            </a:extLst>
          </p:cNvPr>
          <p:cNvSpPr txBox="1">
            <a:spLocks/>
          </p:cNvSpPr>
          <p:nvPr/>
        </p:nvSpPr>
        <p:spPr>
          <a:xfrm>
            <a:off x="139767" y="687300"/>
            <a:ext cx="8520600" cy="33851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1600" b="1">
                <a:solidFill>
                  <a:srgbClr val="002060"/>
                </a:solidFill>
              </a:rPr>
              <a:t>Segment Insights &amp; Findings</a:t>
            </a:r>
          </a:p>
        </p:txBody>
      </p:sp>
      <p:sp>
        <p:nvSpPr>
          <p:cNvPr id="8" name="Google Shape;134;p23">
            <a:extLst>
              <a:ext uri="{FF2B5EF4-FFF2-40B4-BE49-F238E27FC236}">
                <a16:creationId xmlns:a16="http://schemas.microsoft.com/office/drawing/2014/main" id="{57335198-79A6-CAA5-2CC6-0BB009B8F43A}"/>
              </a:ext>
            </a:extLst>
          </p:cNvPr>
          <p:cNvSpPr txBox="1"/>
          <p:nvPr/>
        </p:nvSpPr>
        <p:spPr>
          <a:xfrm>
            <a:off x="131949" y="1142768"/>
            <a:ext cx="4440051" cy="2882800"/>
          </a:xfrm>
          <a:prstGeom prst="rect">
            <a:avLst/>
          </a:prstGeom>
          <a:noFill/>
          <a:ln>
            <a:noFill/>
          </a:ln>
        </p:spPr>
        <p:txBody>
          <a:bodyPr spcFirstLastPara="1" wrap="square" lIns="91425" tIns="45700" rIns="91425" bIns="45700" anchor="t" anchorCtr="0">
            <a:spAutoFit/>
          </a:bodyPr>
          <a:lstStyle/>
          <a:p>
            <a:pPr marL="173736" indent="-173736">
              <a:spcAft>
                <a:spcPts val="800"/>
              </a:spcAft>
              <a:buFont typeface="Arial" panose="020B0604020202020204" pitchFamily="34" charset="0"/>
              <a:buChar char="•"/>
            </a:pPr>
            <a:r>
              <a:rPr lang="en-US" b="1" dirty="0"/>
              <a:t>High-Value &amp; Champion Customers</a:t>
            </a:r>
            <a:br>
              <a:rPr lang="en-US" dirty="0"/>
            </a:br>
            <a:r>
              <a:rPr lang="en-US" dirty="0"/>
              <a:t>Champions and Loyal customers (top 18% of the base) contribute 64% of total revenue. Average order value for this segment is ₹4,820, with a purchase frequency of 6.2 times per year. Retention programs such as exclusive loyalty rewards and early-access offers are recommended to sustain their engagement and prevent churn to competitors.</a:t>
            </a:r>
          </a:p>
          <a:p>
            <a:pPr marL="173736" indent="-173736">
              <a:spcAft>
                <a:spcPts val="800"/>
              </a:spcAft>
              <a:buFont typeface="Arial" panose="020B0604020202020204" pitchFamily="34" charset="0"/>
              <a:buChar char="•"/>
            </a:pPr>
            <a:r>
              <a:rPr lang="en-US" b="1" dirty="0"/>
              <a:t>At-Risk &amp; Dormant Customer Recovery</a:t>
            </a:r>
            <a:br>
              <a:rPr lang="en-US" dirty="0"/>
            </a:br>
            <a:r>
              <a:rPr lang="en-US" dirty="0"/>
              <a:t>At-Risk customers (22% of base) show declining purchase frequency — last purchase was 90+ days ago. Win-back campaigns with personalised discount codes and re-engagement emails are recommended. Dormant customers (15%) require reactivation offers. Together, recovering these two segments could unlock ₹3.2 Crore in incremental annual revenue.</a:t>
            </a:r>
          </a:p>
        </p:txBody>
      </p:sp>
    </p:spTree>
    <p:extLst>
      <p:ext uri="{BB962C8B-B14F-4D97-AF65-F5344CB8AC3E}">
        <p14:creationId xmlns:p14="http://schemas.microsoft.com/office/powerpoint/2010/main" val="2621200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7" name="Google Shape;127;p22">
            <a:extLst>
              <a:ext uri="{FF2B5EF4-FFF2-40B4-BE49-F238E27FC236}">
                <a16:creationId xmlns:a16="http://schemas.microsoft.com/office/drawing/2014/main" id="{2CBB2190-2983-5B07-C14F-C0C1B82BC484}"/>
              </a:ext>
            </a:extLst>
          </p:cNvPr>
          <p:cNvSpPr txBox="1">
            <a:spLocks/>
          </p:cNvSpPr>
          <p:nvPr/>
        </p:nvSpPr>
        <p:spPr>
          <a:xfrm>
            <a:off x="139767" y="687300"/>
            <a:ext cx="8520600" cy="33851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1600" b="1">
                <a:solidFill>
                  <a:srgbClr val="002060"/>
                </a:solidFill>
              </a:rPr>
              <a:t>Key Takeaways &amp; Recommendations</a:t>
            </a:r>
          </a:p>
        </p:txBody>
      </p:sp>
      <p:sp>
        <p:nvSpPr>
          <p:cNvPr id="8" name="Google Shape;134;p23">
            <a:extLst>
              <a:ext uri="{FF2B5EF4-FFF2-40B4-BE49-F238E27FC236}">
                <a16:creationId xmlns:a16="http://schemas.microsoft.com/office/drawing/2014/main" id="{F656EEBA-FCC6-FE6F-EAF7-837658983D56}"/>
              </a:ext>
            </a:extLst>
          </p:cNvPr>
          <p:cNvSpPr txBox="1"/>
          <p:nvPr/>
        </p:nvSpPr>
        <p:spPr>
          <a:xfrm>
            <a:off x="131949" y="1142768"/>
            <a:ext cx="4440051" cy="2441654"/>
          </a:xfrm>
          <a:prstGeom prst="rect">
            <a:avLst/>
          </a:prstGeom>
          <a:noFill/>
          <a:ln>
            <a:noFill/>
          </a:ln>
        </p:spPr>
        <p:txBody>
          <a:bodyPr spcFirstLastPara="1" wrap="square" lIns="91425" tIns="45700" rIns="91425" bIns="45700" anchor="t" anchorCtr="0">
            <a:spAutoFit/>
          </a:bodyPr>
          <a:lstStyle/>
          <a:p>
            <a:pPr marL="173736" lvl="0" indent="-173736">
              <a:spcAft>
                <a:spcPts val="800"/>
              </a:spcAft>
              <a:buFont typeface="Arial" panose="020B0604020202020204" pitchFamily="34" charset="0"/>
              <a:buChar char="•"/>
            </a:pPr>
            <a:r>
              <a:rPr lang="en-US" dirty="0"/>
              <a:t>RFM segmentation reveals that just 18% of customers drive 64% of revenue — focus retention efforts on Champions and Loyal segments first. </a:t>
            </a:r>
          </a:p>
          <a:p>
            <a:pPr marL="173736" lvl="0" indent="-173736">
              <a:spcAft>
                <a:spcPts val="800"/>
              </a:spcAft>
              <a:buFont typeface="Arial" panose="020B0604020202020204" pitchFamily="34" charset="0"/>
              <a:buChar char="•"/>
            </a:pPr>
            <a:r>
              <a:rPr lang="en-US" dirty="0"/>
              <a:t>At-Risk and Dormant customers represent a ₹3.2 Crore recovery opportunity; win-back campaigns should be prioritised in Q3.</a:t>
            </a:r>
          </a:p>
          <a:p>
            <a:pPr marL="173736" lvl="0" indent="-173736">
              <a:spcAft>
                <a:spcPts val="800"/>
              </a:spcAft>
              <a:buFont typeface="Arial" panose="020B0604020202020204" pitchFamily="34" charset="0"/>
              <a:buChar char="•"/>
            </a:pPr>
            <a:r>
              <a:rPr lang="en-US" dirty="0"/>
              <a:t> New and Potential Loyalist segments (30% of base) show high growth potential — targeted upsell and cross-sell strategies can increase their CLV by 40%. </a:t>
            </a:r>
          </a:p>
          <a:p>
            <a:pPr marL="173736" lvl="0" indent="-173736">
              <a:spcAft>
                <a:spcPts val="800"/>
              </a:spcAft>
              <a:buFont typeface="Arial" panose="020B0604020202020204" pitchFamily="34" charset="0"/>
              <a:buChar char="•"/>
            </a:pPr>
            <a:r>
              <a:rPr lang="en-US" dirty="0"/>
              <a:t>Deploying real-time segmentation dashboards in Power BI will allow the sales team to monitor segment health weekly and adapt campaigns dynamically for maximum ROI.</a:t>
            </a:r>
          </a:p>
        </p:txBody>
      </p:sp>
      <p:pic>
        <p:nvPicPr>
          <p:cNvPr id="9" name="Picture 8" descr="A person standing next to a clipboard with a checklist  Description automatically generated">
            <a:extLst>
              <a:ext uri="{FF2B5EF4-FFF2-40B4-BE49-F238E27FC236}">
                <a16:creationId xmlns:a16="http://schemas.microsoft.com/office/drawing/2014/main" id="{E9417E3B-DDB5-FAE5-89DC-EBB8DF91425C}"/>
              </a:ext>
            </a:extLst>
          </p:cNvPr>
          <p:cNvPicPr>
            <a:picLocks noChangeAspect="1"/>
          </p:cNvPicPr>
          <p:nvPr/>
        </p:nvPicPr>
        <p:blipFill rotWithShape="1">
          <a:blip r:embed="rId3"/>
          <a:srcRect l="17552" r="12574"/>
          <a:stretch/>
        </p:blipFill>
        <p:spPr>
          <a:xfrm>
            <a:off x="5205663" y="1100827"/>
            <a:ext cx="3930314" cy="3749862"/>
          </a:xfrm>
          <a:prstGeom prst="rect">
            <a:avLst/>
          </a:prstGeom>
        </p:spPr>
      </p:pic>
    </p:spTree>
    <p:extLst>
      <p:ext uri="{BB962C8B-B14F-4D97-AF65-F5344CB8AC3E}">
        <p14:creationId xmlns:p14="http://schemas.microsoft.com/office/powerpoint/2010/main" val="3104766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close-up of a thank you card  Description automatically generated">
            <a:extLst>
              <a:ext uri="{FF2B5EF4-FFF2-40B4-BE49-F238E27FC236}">
                <a16:creationId xmlns:a16="http://schemas.microsoft.com/office/drawing/2014/main" id="{A93903B1-E7A1-B168-DEC2-0635A4163F59}"/>
              </a:ext>
            </a:extLst>
          </p:cNvPr>
          <p:cNvPicPr>
            <a:picLocks noChangeAspect="1"/>
          </p:cNvPicPr>
          <p:nvPr/>
        </p:nvPicPr>
        <p:blipFill rotWithShape="1">
          <a:blip r:embed="rId3"/>
          <a:srcRect l="9710" t="21904" r="9339"/>
          <a:stretch/>
        </p:blipFill>
        <p:spPr>
          <a:xfrm>
            <a:off x="1869484" y="1466831"/>
            <a:ext cx="5647194" cy="3064485"/>
          </a:xfrm>
          <a:prstGeom prst="rect">
            <a:avLst/>
          </a:prstGeom>
        </p:spPr>
      </p:pic>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706AB80-2608-47D7-8AC8-FA6BC8A9B2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11</TotalTime>
  <Words>472</Words>
  <Application>Microsoft Office PowerPoint</Application>
  <PresentationFormat>On-screen Show (16:9)</PresentationFormat>
  <Paragraphs>29</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sonalverma5184@gmail.com</cp:lastModifiedBy>
  <cp:revision>7</cp:revision>
  <dcterms:modified xsi:type="dcterms:W3CDTF">2026-05-15T09:32:09Z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